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4" r:id="rId4"/>
    <p:sldId id="258" r:id="rId5"/>
    <p:sldId id="259" r:id="rId6"/>
    <p:sldId id="266" r:id="rId7"/>
    <p:sldId id="267" r:id="rId8"/>
    <p:sldId id="26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1" r:id="rId17"/>
    <p:sldId id="278" r:id="rId18"/>
    <p:sldId id="282" r:id="rId19"/>
    <p:sldId id="279" r:id="rId20"/>
    <p:sldId id="280" r:id="rId21"/>
    <p:sldId id="283" r:id="rId22"/>
    <p:sldId id="260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598" y="2040834"/>
            <a:ext cx="10535479" cy="1033669"/>
          </a:xfrm>
        </p:spPr>
        <p:txBody>
          <a:bodyPr/>
          <a:lstStyle/>
          <a:p>
            <a:pPr algn="just"/>
            <a:r>
              <a:rPr lang="en-US" sz="3200" dirty="0" smtClean="0"/>
              <a:t>Lung and Colon Cancer Detection from Scanning                                                                                                                                                                                                     Images using EfficientNetB3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5617" y="3261815"/>
            <a:ext cx="10614992" cy="295345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                                                                </a:t>
            </a:r>
            <a:r>
              <a:rPr lang="en-US" sz="2000" dirty="0" err="1" smtClean="0"/>
              <a:t>tEam</a:t>
            </a:r>
            <a:r>
              <a:rPr lang="en-US" sz="2000" dirty="0" smtClean="0"/>
              <a:t>  members</a:t>
            </a:r>
            <a:endParaRPr lang="en-IN" sz="2000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</a:t>
            </a:r>
            <a:r>
              <a:rPr lang="en-US" dirty="0" err="1" smtClean="0"/>
              <a:t>md.</a:t>
            </a:r>
            <a:r>
              <a:rPr lang="en-US" dirty="0" smtClean="0"/>
              <a:t> </a:t>
            </a:r>
            <a:r>
              <a:rPr lang="en-US" dirty="0" err="1" smtClean="0"/>
              <a:t>Naseema</a:t>
            </a:r>
            <a:r>
              <a:rPr lang="en-US" dirty="0" smtClean="0"/>
              <a:t>               22c51a6634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sk. </a:t>
            </a:r>
            <a:r>
              <a:rPr lang="en-US" dirty="0" err="1" smtClean="0"/>
              <a:t>Meeravali</a:t>
            </a:r>
            <a:r>
              <a:rPr lang="en-US" dirty="0" smtClean="0"/>
              <a:t>               22c51a6650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g. </a:t>
            </a:r>
            <a:r>
              <a:rPr lang="en-US" dirty="0" err="1" smtClean="0"/>
              <a:t>gayathri</a:t>
            </a:r>
            <a:r>
              <a:rPr lang="en-US" dirty="0" smtClean="0"/>
              <a:t>                  22c51a6613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b. </a:t>
            </a:r>
            <a:r>
              <a:rPr lang="en-US" dirty="0" err="1" smtClean="0"/>
              <a:t>jeshvanth</a:t>
            </a:r>
            <a:r>
              <a:rPr lang="en-US" dirty="0" smtClean="0"/>
              <a:t> </a:t>
            </a:r>
            <a:r>
              <a:rPr lang="en-US" dirty="0" err="1" smtClean="0"/>
              <a:t>verma</a:t>
            </a:r>
            <a:r>
              <a:rPr lang="en-US" dirty="0" smtClean="0"/>
              <a:t>   22c51a6607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sz="2000" dirty="0" smtClean="0"/>
              <a:t>guided by:                                                                          </a:t>
            </a:r>
            <a:r>
              <a:rPr lang="en-US" dirty="0" smtClean="0"/>
              <a:t>head of THE department </a:t>
            </a:r>
          </a:p>
          <a:p>
            <a:r>
              <a:rPr lang="en-US" dirty="0" smtClean="0"/>
              <a:t>  Mrs. N. </a:t>
            </a:r>
            <a:r>
              <a:rPr lang="en-US" dirty="0" err="1" smtClean="0"/>
              <a:t>sudharani</a:t>
            </a:r>
            <a:r>
              <a:rPr lang="en-US" dirty="0" smtClean="0"/>
              <a:t>                                                                                      </a:t>
            </a:r>
            <a:r>
              <a:rPr lang="en-US" dirty="0"/>
              <a:t>D</a:t>
            </a:r>
            <a:r>
              <a:rPr lang="en-US" dirty="0" smtClean="0"/>
              <a:t>r. t. </a:t>
            </a:r>
            <a:r>
              <a:rPr lang="en-US" dirty="0" err="1" smtClean="0"/>
              <a:t>veeranna</a:t>
            </a:r>
            <a:endParaRPr lang="en-US" dirty="0"/>
          </a:p>
          <a:p>
            <a:r>
              <a:rPr lang="en-US" dirty="0" smtClean="0"/>
              <a:t>ASSISTANT PROFESSOR                                                                                associate professor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5" y="1"/>
            <a:ext cx="11304105" cy="197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this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98643"/>
            <a:ext cx="8825659" cy="3763618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Existing System</a:t>
            </a:r>
          </a:p>
          <a:p>
            <a:r>
              <a:rPr lang="en-US" dirty="0" smtClean="0"/>
              <a:t>Proposed System</a:t>
            </a:r>
          </a:p>
          <a:p>
            <a:r>
              <a:rPr lang="en-US" dirty="0" smtClean="0"/>
              <a:t>System Architecture</a:t>
            </a:r>
          </a:p>
          <a:p>
            <a:r>
              <a:rPr lang="en-US" dirty="0" smtClean="0"/>
              <a:t>Modules</a:t>
            </a:r>
          </a:p>
          <a:p>
            <a:r>
              <a:rPr lang="en-US" dirty="0" smtClean="0"/>
              <a:t>System Requirements</a:t>
            </a:r>
          </a:p>
          <a:p>
            <a:r>
              <a:rPr lang="en-US" dirty="0" smtClean="0"/>
              <a:t>UML Diagrams</a:t>
            </a:r>
          </a:p>
          <a:p>
            <a:r>
              <a:rPr lang="en-US" dirty="0" smtClean="0"/>
              <a:t>Output Screenshots</a:t>
            </a:r>
          </a:p>
          <a:p>
            <a:r>
              <a:rPr lang="en-US" dirty="0" smtClean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7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Lung and colon cancer are among the leading causes of cancer-related deaths worldwide, where early detection plays a critical role in improving survival </a:t>
            </a:r>
            <a:r>
              <a:rPr lang="en-US" dirty="0" smtClean="0"/>
              <a:t>rates.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Traditional </a:t>
            </a:r>
            <a:r>
              <a:rPr lang="en-US" dirty="0"/>
              <a:t>diagnosis using histopathological images is time-consuming and depends heavily on expert </a:t>
            </a:r>
            <a:r>
              <a:rPr lang="en-US" dirty="0" smtClean="0"/>
              <a:t>pathologists.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This </a:t>
            </a:r>
            <a:r>
              <a:rPr lang="en-US" dirty="0"/>
              <a:t>project proposes an automated deep learning-based system for cancer detection from microscopic tissue </a:t>
            </a:r>
            <a:r>
              <a:rPr lang="en-US" dirty="0" smtClean="0"/>
              <a:t>images.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model uses the EfficientNetB3 architecture to extract meaningful features and perform multi-class </a:t>
            </a:r>
            <a:r>
              <a:rPr lang="en-US" dirty="0" smtClean="0"/>
              <a:t>classification.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system is deployed through a web application to provide fast, accurate, and real-time cancer prediction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36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Actual problem in Existing models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55700" y="2826631"/>
            <a:ext cx="9287013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Manual Diagnosis Process</a:t>
            </a:r>
            <a:r>
              <a:rPr lang="en-US" dirty="0"/>
              <a:t>: Cancer detection from histopathological images is performed manually by pathologists, which is time-consuming and requires expert knowledge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Limited Accuracy</a:t>
            </a:r>
            <a:r>
              <a:rPr lang="en-US" dirty="0"/>
              <a:t>: Human analysis may sometimes lead to misclassification due to fatigue, subjectivity, or complex tissue patterns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Slow Processing</a:t>
            </a:r>
            <a:r>
              <a:rPr lang="en-US" dirty="0"/>
              <a:t>: Large volumes of scanning images increase workload and delay diagnosis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No Automation</a:t>
            </a:r>
            <a:r>
              <a:rPr lang="en-US" dirty="0"/>
              <a:t>: There is no intelligent automated system to assist doctors in real-time cancer classification.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8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the Proposed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6356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Improve Detection Accuracy</a:t>
            </a:r>
            <a:r>
              <a:rPr lang="en-US" sz="2000" dirty="0" smtClean="0"/>
              <a:t>: Develop </a:t>
            </a:r>
            <a:r>
              <a:rPr lang="en-US" sz="2000" dirty="0"/>
              <a:t>a highly accurate deep learning model using EfficientNetB3 that captures complex tissue patterns and microscopic features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Automate Diagnosis Process</a:t>
            </a:r>
            <a:r>
              <a:rPr lang="en-US" sz="2000" dirty="0" smtClean="0"/>
              <a:t>: </a:t>
            </a:r>
            <a:r>
              <a:rPr lang="en-US" sz="2000" dirty="0"/>
              <a:t>Implement an AI-based system to automatically classify lung and colon cancer from histopathology images.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Increase Efficiency</a:t>
            </a:r>
            <a:r>
              <a:rPr lang="en-US" sz="2000" dirty="0" smtClean="0"/>
              <a:t>: </a:t>
            </a:r>
            <a:r>
              <a:rPr lang="en-US" sz="2000" dirty="0"/>
              <a:t>Reduce diagnosis time by providing fast and real-time prediction results through a web application</a:t>
            </a:r>
            <a:r>
              <a:rPr lang="en-US" sz="20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Improve Diagnostic Support</a:t>
            </a:r>
            <a:r>
              <a:rPr lang="en-US" sz="2000" dirty="0" smtClean="0"/>
              <a:t>: </a:t>
            </a:r>
            <a:r>
              <a:rPr lang="en-US" sz="2000" dirty="0"/>
              <a:t>Assist medical professionals in identifying cancer types more reliably and consistently, supporting early detection and better treatment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368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590262"/>
            <a:ext cx="3735098" cy="3371208"/>
          </a:xfrm>
        </p:spPr>
        <p:txBody>
          <a:bodyPr/>
          <a:lstStyle/>
          <a:p>
            <a:r>
              <a:rPr lang="en-US" dirty="0" smtClean="0"/>
              <a:t>System 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1060174"/>
            <a:ext cx="3757545" cy="561892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5559" y="583096"/>
            <a:ext cx="3127513" cy="543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0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98643"/>
            <a:ext cx="10188907" cy="40684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Image Upload:</a:t>
            </a:r>
            <a:r>
              <a:rPr lang="en-US" dirty="0"/>
              <a:t> The user uploads lung or colon scanning images through the web interface, and the system validates and stores them for further processing.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Preprocessing:</a:t>
            </a:r>
            <a:r>
              <a:rPr lang="en-US" dirty="0"/>
              <a:t> The uploaded image is resized, normalized, enhanced, and converted into an array format to prepare it for the EfficientNetB3 model.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EfficientNetB3 Model:</a:t>
            </a:r>
            <a:r>
              <a:rPr lang="en-US" dirty="0"/>
              <a:t> The EfficientNetB3 model extracts important features from the image and classifies it into lung cancer, colon cancer, or normal category with prediction confidence.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Prediction:</a:t>
            </a:r>
            <a:r>
              <a:rPr lang="en-US" dirty="0"/>
              <a:t> The system processes the model output, generates a readable prediction label, and prepares the final result.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Web Interface:</a:t>
            </a:r>
            <a:r>
              <a:rPr lang="en-US" dirty="0"/>
              <a:t> The system displays the predicted cancer type, confidence percentage, and uploaded image through a user-friendly interface.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0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Requirements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Hardware Requirements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System</a:t>
            </a:r>
            <a:r>
              <a:rPr lang="en-US" dirty="0"/>
              <a:t>: Pentium IV 2.4 GHz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Hard Disk: </a:t>
            </a:r>
            <a:r>
              <a:rPr lang="en-US" dirty="0"/>
              <a:t>40 GB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Floppy Drive: </a:t>
            </a:r>
            <a:r>
              <a:rPr lang="en-US" dirty="0"/>
              <a:t>1.44 MB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Monitor: </a:t>
            </a:r>
            <a:r>
              <a:rPr lang="en-US" dirty="0"/>
              <a:t>15 VGA </a:t>
            </a:r>
            <a:r>
              <a:rPr lang="en-US" dirty="0" err="1"/>
              <a:t>Colour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Mouse: </a:t>
            </a:r>
            <a:r>
              <a:rPr lang="en-US" dirty="0"/>
              <a:t>Logitech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Ram: </a:t>
            </a:r>
            <a:r>
              <a:rPr lang="en-US" dirty="0"/>
              <a:t>512 MB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Software Requirements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Operating System</a:t>
            </a:r>
            <a:r>
              <a:rPr lang="en-US" dirty="0"/>
              <a:t>: Windows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Coding Language</a:t>
            </a:r>
            <a:r>
              <a:rPr lang="en-US" dirty="0"/>
              <a:t>: Python 3.7</a:t>
            </a:r>
          </a:p>
        </p:txBody>
      </p:sp>
    </p:spTree>
    <p:extLst>
      <p:ext uri="{BB962C8B-B14F-4D97-AF65-F5344CB8AC3E}">
        <p14:creationId xmlns:p14="http://schemas.microsoft.com/office/powerpoint/2010/main" val="255152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Diagrams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case Diagram: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58359" y="3081407"/>
            <a:ext cx="6106795" cy="293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1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Diagram:</a:t>
            </a:r>
          </a:p>
          <a:p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3448450" y="2478158"/>
            <a:ext cx="3561950" cy="4014566"/>
            <a:chOff x="0" y="0"/>
            <a:chExt cx="2849436" cy="5738766"/>
          </a:xfrm>
        </p:grpSpPr>
        <p:sp>
          <p:nvSpPr>
            <p:cNvPr id="5" name="Rectangle 4"/>
            <p:cNvSpPr/>
            <p:nvPr/>
          </p:nvSpPr>
          <p:spPr>
            <a:xfrm>
              <a:off x="2773426" y="5467091"/>
              <a:ext cx="76010" cy="2716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6350" marR="504190" indent="-6350" algn="l">
                <a:lnSpc>
                  <a:spcPct val="107000"/>
                </a:lnSpc>
                <a:spcAft>
                  <a:spcPts val="800"/>
                </a:spcAft>
              </a:pPr>
              <a:r>
                <a:rPr lang="en-IN" sz="18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" name="Shape 20299"/>
            <p:cNvSpPr/>
            <p:nvPr/>
          </p:nvSpPr>
          <p:spPr>
            <a:xfrm>
              <a:off x="318" y="5647310"/>
              <a:ext cx="2773045" cy="22225"/>
            </a:xfrm>
            <a:custGeom>
              <a:avLst/>
              <a:gdLst/>
              <a:ahLst/>
              <a:cxnLst/>
              <a:rect l="0" t="0" r="0" b="0"/>
              <a:pathLst>
                <a:path w="2773045" h="22225">
                  <a:moveTo>
                    <a:pt x="0" y="0"/>
                  </a:moveTo>
                  <a:lnTo>
                    <a:pt x="2773045" y="0"/>
                  </a:lnTo>
                  <a:lnTo>
                    <a:pt x="2773045" y="22225"/>
                  </a:lnTo>
                  <a:lnTo>
                    <a:pt x="0" y="222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7" name="Picture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771775" cy="5619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361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 Diagram: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97357" y="2305878"/>
            <a:ext cx="2875720" cy="445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5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Activity Diagram: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829878" y="2329690"/>
            <a:ext cx="2623931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2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Sequence Diagram: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82262" y="3114260"/>
            <a:ext cx="6727999" cy="29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Collaboration Diagram: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75791" y="3339548"/>
            <a:ext cx="7050157" cy="109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8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Screenshots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2337766"/>
            <a:ext cx="8030816" cy="3843131"/>
          </a:xfrm>
        </p:spPr>
      </p:pic>
    </p:spTree>
    <p:extLst>
      <p:ext uri="{BB962C8B-B14F-4D97-AF65-F5344CB8AC3E}">
        <p14:creationId xmlns:p14="http://schemas.microsoft.com/office/powerpoint/2010/main" val="42578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16" y="2324928"/>
            <a:ext cx="9049220" cy="4041913"/>
          </a:xfrm>
        </p:spPr>
      </p:pic>
    </p:spTree>
    <p:extLst>
      <p:ext uri="{BB962C8B-B14F-4D97-AF65-F5344CB8AC3E}">
        <p14:creationId xmlns:p14="http://schemas.microsoft.com/office/powerpoint/2010/main" val="20253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69" y="2378764"/>
            <a:ext cx="8473109" cy="4260575"/>
          </a:xfrm>
        </p:spPr>
      </p:pic>
    </p:spTree>
    <p:extLst>
      <p:ext uri="{BB962C8B-B14F-4D97-AF65-F5344CB8AC3E}">
        <p14:creationId xmlns:p14="http://schemas.microsoft.com/office/powerpoint/2010/main" val="19873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5" y="2398643"/>
            <a:ext cx="9764836" cy="4041914"/>
          </a:xfrm>
        </p:spPr>
      </p:pic>
    </p:spTree>
    <p:extLst>
      <p:ext uri="{BB962C8B-B14F-4D97-AF65-F5344CB8AC3E}">
        <p14:creationId xmlns:p14="http://schemas.microsoft.com/office/powerpoint/2010/main" val="277812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276475"/>
            <a:ext cx="7962899" cy="4362450"/>
          </a:xfrm>
        </p:spPr>
      </p:pic>
    </p:spTree>
    <p:extLst>
      <p:ext uri="{BB962C8B-B14F-4D97-AF65-F5344CB8AC3E}">
        <p14:creationId xmlns:p14="http://schemas.microsoft.com/office/powerpoint/2010/main" val="15307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2603499"/>
            <a:ext cx="9327516" cy="3916571"/>
          </a:xfrm>
        </p:spPr>
      </p:pic>
    </p:spTree>
    <p:extLst>
      <p:ext uri="{BB962C8B-B14F-4D97-AF65-F5344CB8AC3E}">
        <p14:creationId xmlns:p14="http://schemas.microsoft.com/office/powerpoint/2010/main" val="415345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96" y="2603500"/>
            <a:ext cx="9435547" cy="3664778"/>
          </a:xfrm>
        </p:spPr>
      </p:pic>
    </p:spTree>
    <p:extLst>
      <p:ext uri="{BB962C8B-B14F-4D97-AF65-F5344CB8AC3E}">
        <p14:creationId xmlns:p14="http://schemas.microsoft.com/office/powerpoint/2010/main" val="236221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32383"/>
            <a:ext cx="8825659" cy="42539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Conclusion:</a:t>
            </a:r>
            <a:endParaRPr lang="en-IN" sz="2000" b="1" dirty="0"/>
          </a:p>
          <a:p>
            <a:pPr marL="0" indent="0" algn="just">
              <a:buNone/>
            </a:pPr>
            <a:r>
              <a:rPr lang="en-US" sz="2000" dirty="0"/>
              <a:t>The project successfully implements an AI-based multi-class cancer detection </a:t>
            </a:r>
            <a:r>
              <a:rPr lang="en-US" sz="2000" dirty="0" smtClean="0"/>
              <a:t>system. EfficientNetB3 </a:t>
            </a:r>
            <a:r>
              <a:rPr lang="en-US" sz="2000" dirty="0"/>
              <a:t>provides high accuracy with efficient </a:t>
            </a:r>
            <a:r>
              <a:rPr lang="en-US" sz="2000" dirty="0" smtClean="0"/>
              <a:t>computation. The </a:t>
            </a:r>
            <a:r>
              <a:rPr lang="en-US" sz="2000" dirty="0"/>
              <a:t>system reduces manual effort and supports faster </a:t>
            </a:r>
            <a:r>
              <a:rPr lang="en-US" sz="2000" dirty="0" smtClean="0"/>
              <a:t>diagnosis. It </a:t>
            </a:r>
            <a:r>
              <a:rPr lang="en-US" sz="2000" dirty="0"/>
              <a:t>can assist doctors in early detection of lung and colon </a:t>
            </a:r>
            <a:r>
              <a:rPr lang="en-US" sz="2000" dirty="0" smtClean="0"/>
              <a:t>cancer. Future </a:t>
            </a:r>
            <a:r>
              <a:rPr lang="en-US" sz="2000" dirty="0"/>
              <a:t>improvements can include larger datasets and deployment in hospitals</a:t>
            </a:r>
            <a:r>
              <a:rPr lang="en-US" sz="2000" dirty="0" smtClean="0"/>
              <a:t>.</a:t>
            </a:r>
            <a:endParaRPr lang="en-IN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 smtClean="0"/>
              <a:t>Future Scope:</a:t>
            </a:r>
            <a:endParaRPr lang="en-IN" sz="2000" b="1" dirty="0"/>
          </a:p>
          <a:p>
            <a:pPr marL="0" indent="0" algn="just">
              <a:buNone/>
            </a:pPr>
            <a:r>
              <a:rPr lang="en-US" sz="2000" dirty="0"/>
              <a:t>The system can be improved by training on larger datasets to increase accuracy. It can be integrated into hospital systems for real-time use. The model can also be extended to detect more cancer types and deployed as a cloud or mobile healthcare application.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81058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53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802</TotalTime>
  <Words>639</Words>
  <Application>Microsoft Office PowerPoint</Application>
  <PresentationFormat>Widescreen</PresentationFormat>
  <Paragraphs>78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Century Gothic</vt:lpstr>
      <vt:lpstr>Times New Roman</vt:lpstr>
      <vt:lpstr>Wingdings</vt:lpstr>
      <vt:lpstr>Wingdings 3</vt:lpstr>
      <vt:lpstr>Ion Boardroom</vt:lpstr>
      <vt:lpstr>Lung and Colon Cancer Detection from Scanning                                                                                                                                                                                                     Images using EfficientNetB3</vt:lpstr>
      <vt:lpstr>Scope of this Project</vt:lpstr>
      <vt:lpstr>Introduction</vt:lpstr>
      <vt:lpstr>Actual problem in Existing models</vt:lpstr>
      <vt:lpstr>Objective of the Proposed System</vt:lpstr>
      <vt:lpstr>System Architecture</vt:lpstr>
      <vt:lpstr>Modules</vt:lpstr>
      <vt:lpstr>System Requirements</vt:lpstr>
      <vt:lpstr>UML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and Colon Cancer Detection from Scanning Images using EfficientNetB3</dc:title>
  <dc:creator>HP</dc:creator>
  <cp:lastModifiedBy>HP</cp:lastModifiedBy>
  <cp:revision>39</cp:revision>
  <dcterms:created xsi:type="dcterms:W3CDTF">2025-09-24T15:04:08Z</dcterms:created>
  <dcterms:modified xsi:type="dcterms:W3CDTF">2026-04-21T14:21:19Z</dcterms:modified>
</cp:coreProperties>
</file>